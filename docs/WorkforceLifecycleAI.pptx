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3" r:id="rId15"/>
    <p:sldId id="27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94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838A7-27C1-12FE-0436-F4CB8205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5589D-045D-432C-644C-52EE3C35A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9FD11-83EC-8C72-545C-5DD4E306B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B9577-86BA-1057-1BC6-A551DD0360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90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C54C6-7D99-EB51-A4F0-452899E87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6AB3B-C62B-D152-C110-0FBCBC7F6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C2456-60DB-46C8-369A-423DB3B64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8A4A2-2F52-3ED4-4E62-BDA2B6C64F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18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91440"/>
            <a:ext cx="1828800" cy="18288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023E8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CIC FS-300.ai 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 err="1">
                <a:solidFill>
                  <a:srgbClr val="FFFFFF"/>
                </a:solidFill>
              </a:rPr>
              <a:t>WorkforceLifecycleAI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AI-Driven HR &amp; IT Automation System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FC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Intelligent Onboarding · Offboarding · Knowledge Transfer · Audit-Ready Compliance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1920240" cy="749808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438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5+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FC2"/>
                </a:solidFill>
              </a:rPr>
              <a:t>Specialized AI Agents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33472" y="3401568"/>
            <a:ext cx="1920240" cy="749808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33472" y="3438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8+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33472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FC2"/>
                </a:solidFill>
              </a:rPr>
              <a:t>System Integrations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9744" y="3401568"/>
            <a:ext cx="1920240" cy="749808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9744" y="3438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100%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09744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FC2"/>
                </a:solidFill>
              </a:rPr>
              <a:t>Audit-Ready Logs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86016" y="3401568"/>
            <a:ext cx="1920240" cy="749808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86016" y="3438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RAG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86016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FC2"/>
                </a:solidFill>
              </a:rPr>
              <a:t>Knowledge Grounded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</a:rPr>
              <a:t>AI Skills Initiative  ·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77B6"/>
                </a:solidFill>
              </a:rPr>
              <a:t>Traditional onboarding &amp; offboarding is broken — costly, inconsistent, and compliance-blind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272491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691640"/>
            <a:ext cx="91440" cy="132588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801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2064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Too Slow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214884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30+ days average onboarding. New hires wait weeks before they're productive. Every delay costs money.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2491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91440" cy="13258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801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64992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Error-Prone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214884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Manual access provisioning causes security gaps. Wrong permissions granted — or never revoked after exit.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53328" y="1691640"/>
            <a:ext cx="272491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53328" y="1691640"/>
            <a:ext cx="91440" cy="1325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801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Knowledge Lost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When employees leave, critical institutional knowledge walks out with them. No structured KT process.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172968"/>
            <a:ext cx="272491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3172968"/>
            <a:ext cx="91440" cy="13258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" y="32826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2064" y="3264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No Audit Trail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" y="3630168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Compliance failures due to poor logging. Who provisioned what? When? No traceable, timestamped evidence.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172968"/>
            <a:ext cx="272491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3172968"/>
            <a:ext cx="91440" cy="132588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64992" y="32826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64992" y="3264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HR Overloaded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64992" y="3630168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HR teams spend 40+ manual hours per employee on routine lifecycle tasks — leaving no time for strategy.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53328" y="3172968"/>
            <a:ext cx="272491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53328" y="3172968"/>
            <a:ext cx="91440" cy="13258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32826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17920" y="3264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Fragmented Tools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17920" y="3630168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</a:rPr>
              <a:t>IAM, JIRA, GitHub, Confluence, ServiceNow — all siloed. No unified orchestration layer.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INTRODUCING WorkforcLifecycleAI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4D8"/>
                </a:solidFill>
              </a:rPr>
              <a:t>One unified Agentic AI platform for the entire employee lifecycle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0" y="1353312"/>
            <a:ext cx="2194560" cy="2194560"/>
          </a:xfrm>
          <a:prstGeom prst="ellipse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0" y="1353312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</a:rPr>
              <a:t>WorkforceLifecycleAI</a:t>
            </a:r>
            <a:r>
              <a:rPr lang="en-US" sz="1600" b="1" dirty="0">
                <a:solidFill>
                  <a:srgbClr val="FFFFFF"/>
                </a:solidFill>
              </a:rPr>
              <a:t> </a:t>
            </a:r>
            <a:r>
              <a:rPr lang="en-US" sz="1600" b="1" dirty="0">
                <a:solidFill>
                  <a:srgbClr val="0D1B2A"/>
                </a:solidFill>
              </a:rPr>
              <a:t>
</a:t>
            </a:r>
            <a:r>
              <a:rPr lang="en-US" sz="1000" dirty="0">
                <a:solidFill>
                  <a:srgbClr val="0D1B2A"/>
                </a:solidFill>
              </a:rPr>
              <a:t>Agentic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Orchestrator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194560" cy="868680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21945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RAG-Grounded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Chat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2194560" cy="868680"/>
          </a:xfrm>
          <a:prstGeom prst="rect">
            <a:avLst/>
          </a:prstGeom>
          <a:solidFill>
            <a:srgbClr val="023E8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21945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Policy-Based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Access Control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188720"/>
            <a:ext cx="2194560" cy="868680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188720"/>
            <a:ext cx="21945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MCP 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Orchestration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834640"/>
            <a:ext cx="2194560" cy="868680"/>
          </a:xfrm>
          <a:prstGeom prst="rect">
            <a:avLst/>
          </a:prstGeom>
          <a:solidFill>
            <a:srgbClr val="023E8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2834640"/>
            <a:ext cx="21945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Audit-Ready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Compliance Logs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4114800"/>
            <a:ext cx="2194560" cy="868680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4114800"/>
            <a:ext cx="21945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Knowledge Transfer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Capture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1618488"/>
            <a:ext cx="1005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68880" y="3264408"/>
            <a:ext cx="1005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1618488"/>
            <a:ext cx="1005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0" y="3264408"/>
            <a:ext cx="1005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3547872"/>
            <a:ext cx="0" cy="566928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SOLUTION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0116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</a:rPr>
              <a:t>👤  USER INTERFACE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1051560"/>
            <a:ext cx="120700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Next.js Web App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93008" y="1051560"/>
            <a:ext cx="120700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Assistant Chat Mode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91456" y="1051560"/>
            <a:ext cx="120700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Lifecycle Mode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89904" y="1051560"/>
            <a:ext cx="120700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Runs History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88352" y="1051560"/>
            <a:ext cx="1207008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</a:rPr>
              <a:t>Audit Evidence Panel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581912"/>
            <a:ext cx="0" cy="256032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8595360" cy="658368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82880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FastAPI Backend  (api/main.py)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1828800"/>
            <a:ext cx="8595360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B3E5F5"/>
                </a:solidFill>
              </a:rPr>
              <a:t>REST Endpoints · Request Routing · Auth Middleware · CORS · Logging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2487168"/>
            <a:ext cx="0" cy="256032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859536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🤖  LangGraph Multi-Agent Orchestrator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218688"/>
            <a:ext cx="1261872" cy="804672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218688"/>
            <a:ext cx="1261872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Onboarding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3218688"/>
            <a:ext cx="1261872" cy="804672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0" y="3218688"/>
            <a:ext cx="1261872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Offboarding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3218688"/>
            <a:ext cx="1261872" cy="804672"/>
          </a:xfrm>
          <a:prstGeom prst="rect">
            <a:avLst/>
          </a:prstGeom>
          <a:solidFill>
            <a:srgbClr val="7B2FB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3218688"/>
            <a:ext cx="1261872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Provisioning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218688"/>
            <a:ext cx="1261872" cy="804672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218688"/>
            <a:ext cx="1261872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3218688"/>
            <a:ext cx="1261872" cy="804672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80760" y="3218688"/>
            <a:ext cx="1261872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3218688"/>
            <a:ext cx="1261872" cy="804672"/>
          </a:xfrm>
          <a:prstGeom prst="rect">
            <a:avLst/>
          </a:prstGeom>
          <a:solidFill>
            <a:srgbClr val="2C787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98080" y="3218688"/>
            <a:ext cx="1261872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315968"/>
            <a:ext cx="2697480" cy="658368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315968"/>
            <a:ext cx="2697480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7B6"/>
                </a:solidFill>
              </a:rPr>
              <a:t>📚  RAG / FAISS Vector Store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553712"/>
            <a:ext cx="269748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5566"/>
                </a:solidFill>
              </a:rPr>
              <a:t>Hugging face Embeddings · ingest.py · retriever.py · kt_index.py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27832" y="4315968"/>
            <a:ext cx="2834640" cy="658368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27832" y="4315968"/>
            <a:ext cx="2834640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</a:rPr>
              <a:t>🔧  MCP Server (Tool Layer)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27832" y="4553712"/>
            <a:ext cx="283464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5566"/>
                </a:solidFill>
              </a:rPr>
              <a:t>IAM · Jira · GitHub · Confluence · ServiceNow · Outlook · Teams · DevOps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82512" y="4315968"/>
            <a:ext cx="2487168" cy="658368"/>
          </a:xfrm>
          <a:prstGeom prst="rect">
            <a:avLst/>
          </a:prstGeom>
          <a:solidFill>
            <a:srgbClr val="F3E8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82512" y="4315968"/>
            <a:ext cx="248716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21A8"/>
                </a:solidFill>
              </a:rPr>
              <a:t>✨  Gemini LLM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82512" y="4553712"/>
            <a:ext cx="2487168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5566"/>
                </a:solidFill>
              </a:rPr>
              <a:t>· Policy QA · KT Reasoning · Report Gen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5 SPECIALIZED AI 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788920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78892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🟢  Onboarding 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325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D9488"/>
                </a:solidFill>
              </a:rPr>
              <a:t>New hire journey automation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572768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Retrieves RAG context from company knowledge base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Prepares personalized grounding for Chat Agent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Triggers access provisioning workflow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Sends welcome notifications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9544" y="914400"/>
            <a:ext cx="2788920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9544" y="914400"/>
            <a:ext cx="2788920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00984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🔑  Provisioning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00984" y="1325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077B6"/>
                </a:solidFill>
              </a:rPr>
              <a:t>Role-based access enforcement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00984" y="1572768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Reads access_policies.yml for role rules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Calls MCP endpoints sequentially (provision/revoke)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Generates unique Audit ID per run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Logs every action with timestamp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63056" y="914400"/>
            <a:ext cx="2788920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914400"/>
            <a:ext cx="2788920" cy="384048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54496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📖  KT 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1325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7B2FBE"/>
                </a:solidFill>
              </a:rPr>
              <a:t>Knowledge capture &amp; transfer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54496" y="1572768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Structured knowledge capture during offboarding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Appends KT notes into FAISS vector index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Creates searchable knowledge artifacts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Ensures continuity for replacement hires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" y="2944368"/>
            <a:ext cx="2788920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2944368"/>
            <a:ext cx="27889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9443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 Chat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C0392B"/>
                </a:solidFill>
              </a:rPr>
              <a:t>Conversational AI assistant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3602736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Powered by Gemini LLM + RAG context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Routes policy questions to YAML source of truth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Multi-turn conversation with memory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Grounded answers — no hallucination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9544" y="2944368"/>
            <a:ext cx="2788920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9544" y="2944368"/>
            <a:ext cx="2788920" cy="384048"/>
          </a:xfrm>
          <a:prstGeom prst="rect">
            <a:avLst/>
          </a:prstGeom>
          <a:solidFill>
            <a:srgbClr val="2C78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00984" y="29443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Report Agent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00984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2C7873"/>
                </a:solidFill>
              </a:rPr>
              <a:t>Analytics &amp; executive reporting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00984" y="3602736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Generates executive summary after each run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Calculates KPIs (time saved, steps completed)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Produces audit evidence documentation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B3C"/>
                </a:solidFill>
              </a:rPr>
              <a:t>• Compliance-ready report exports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ONBOARDING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</a:rPr>
              <a:t>Step-by-step automated journey from request to productive team member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1097280" cy="25603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16736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" y="1920240"/>
            <a:ext cx="9875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HR Submits Request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2336" y="2596896"/>
            <a:ext cx="9875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8F4"/>
                </a:solidFill>
              </a:rPr>
              <a:t>New hire details entered via Next.js UI or API call.</a:t>
            </a:r>
            <a:br>
              <a:rPr lang="en-US" sz="750" dirty="0">
                <a:solidFill>
                  <a:srgbClr val="CCE8F4"/>
                </a:solidFill>
              </a:rPr>
            </a:br>
            <a:endParaRPr lang="en-US" sz="750" dirty="0">
              <a:solidFill>
                <a:srgbClr val="CCE8F4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44752" y="2487168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581912" y="1207008"/>
            <a:ext cx="1097280" cy="2560320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74520" y="1316736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7452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36776" y="1920240"/>
            <a:ext cx="9875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Orchestrator Routes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36776" y="2596896"/>
            <a:ext cx="9875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>
              <a:lnSpc>
                <a:spcPct val="115000"/>
              </a:lnSpc>
            </a:pPr>
            <a:r>
              <a:rPr lang="en-US" sz="750" dirty="0">
                <a:solidFill>
                  <a:srgbClr val="CCE8F4"/>
                </a:solidFill>
              </a:rPr>
              <a:t>LangGraph dispatches to Onboarding + Provisioning agents simultaneously</a:t>
            </a:r>
            <a:br>
              <a:rPr lang="en-US" sz="750" dirty="0">
                <a:solidFill>
                  <a:srgbClr val="CCE8F4"/>
                </a:solidFill>
              </a:rPr>
            </a:br>
            <a:br>
              <a:rPr lang="en-US" sz="750" dirty="0">
                <a:solidFill>
                  <a:srgbClr val="CCE8F4"/>
                </a:solidFill>
              </a:rPr>
            </a:b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79192" y="2487168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16352" y="1207008"/>
            <a:ext cx="1097280" cy="2560320"/>
          </a:xfrm>
          <a:prstGeom prst="rect">
            <a:avLst/>
          </a:prstGeom>
          <a:solidFill>
            <a:srgbClr val="7B2FB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08960" y="1316736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71216" y="1920240"/>
            <a:ext cx="9875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RAG Context Fetch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71216" y="2596896"/>
            <a:ext cx="9875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8F4"/>
                </a:solidFill>
              </a:rPr>
              <a:t>Onboarding Agent retrieves company policies, team structure, role docs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913632" y="2487168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50792" y="1207008"/>
            <a:ext cx="1097280" cy="2560320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43400" y="1316736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4340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05656" y="1920240"/>
            <a:ext cx="9875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Access Provisioned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05656" y="2596896"/>
            <a:ext cx="9875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8F4"/>
                </a:solidFill>
              </a:rPr>
              <a:t>Provisioning Agent calls MCP: IAM → GitHub → Jira → Confluence → Teams</a:t>
            </a:r>
          </a:p>
          <a:p>
            <a:pPr marL="0" indent="0" algn="ctr">
              <a:lnSpc>
                <a:spcPct val="115000"/>
              </a:lnSpc>
              <a:buNone/>
            </a:pPr>
            <a:endParaRPr lang="en-US" sz="750" dirty="0">
              <a:solidFill>
                <a:srgbClr val="CCE8F4"/>
              </a:solidFill>
            </a:endParaRPr>
          </a:p>
          <a:p>
            <a:pPr algn="ctr">
              <a:lnSpc>
                <a:spcPct val="115000"/>
              </a:lnSpc>
            </a:pPr>
            <a:br>
              <a:rPr lang="en-US" sz="750" dirty="0"/>
            </a:b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48072" y="2487168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85232" y="1207008"/>
            <a:ext cx="1097280" cy="256032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77840" y="1316736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7784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0096" y="1920240"/>
            <a:ext cx="9875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Chat Grounded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0096" y="2596896"/>
            <a:ext cx="9875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>
              <a:lnSpc>
                <a:spcPct val="115000"/>
              </a:lnSpc>
            </a:pPr>
            <a:r>
              <a:rPr lang="en-US" sz="750" dirty="0">
                <a:solidFill>
                  <a:srgbClr val="CCE8F4"/>
                </a:solidFill>
              </a:rPr>
              <a:t>Chat Agent loaded with personalized RAG context for new hire questions</a:t>
            </a:r>
            <a:br>
              <a:rPr lang="en-US" sz="750" dirty="0">
                <a:solidFill>
                  <a:srgbClr val="CCE8F4"/>
                </a:solidFill>
              </a:rPr>
            </a:br>
            <a:br>
              <a:rPr lang="en-US" sz="750" dirty="0">
                <a:solidFill>
                  <a:srgbClr val="CCE8F4"/>
                </a:solidFill>
              </a:rPr>
            </a:b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382512" y="2487168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19672" y="1207008"/>
            <a:ext cx="1097280" cy="2560320"/>
          </a:xfrm>
          <a:prstGeom prst="rect">
            <a:avLst/>
          </a:prstGeom>
          <a:solidFill>
            <a:srgbClr val="2C787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12280" y="1316736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1228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74536" y="1920240"/>
            <a:ext cx="9875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Audit Logged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74536" y="2596896"/>
            <a:ext cx="9875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8F4"/>
                </a:solidFill>
              </a:rPr>
              <a:t>Every action timestamped, Audit ID generated, stored in /store folder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616952" y="2487168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754112" y="1207008"/>
            <a:ext cx="1097280" cy="25603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046720" y="1316736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04672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08976" y="1920240"/>
            <a:ext cx="9875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Report Generated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08976" y="2596896"/>
            <a:ext cx="987552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8F4"/>
                </a:solidFill>
              </a:rPr>
              <a:t>Report Agent produces executive KPI summary and notifies stakeholders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47472" y="4462272"/>
            <a:ext cx="8449056" cy="502920"/>
          </a:xfrm>
          <a:prstGeom prst="rect">
            <a:avLst/>
          </a:prstGeom>
          <a:solidFill>
            <a:srgbClr val="1324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7472" y="4462272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 All steps logged · Policy-checked · Reversible · Compliant by design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OFFBOARDING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932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F476F"/>
                </a:solidFill>
              </a:rPr>
              <a:t>Intelligent, compliant, and knowledge-preserving exit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75488" cy="47548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" y="1892808"/>
            <a:ext cx="0" cy="219456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0120" y="1453896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1453896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Exit Notification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165506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7799"/>
                </a:solidFill>
              </a:rPr>
              <a:t>HR/manager triggers offboarding via UI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475488" cy="47548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" y="2587752"/>
            <a:ext cx="0" cy="219456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2148840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7552" y="214884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KT Agent Activates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" y="235000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7799"/>
                </a:solidFill>
              </a:rPr>
              <a:t>Structured knowledge capture session begins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807208"/>
            <a:ext cx="475488" cy="47548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" y="3282696"/>
            <a:ext cx="0" cy="219456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0120" y="2843784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7552" y="284378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Access Revoked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304495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7799"/>
                </a:solidFill>
              </a:rPr>
              <a:t>Provisioning Agent calls MCP revoke on all systems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3502152"/>
            <a:ext cx="475488" cy="47548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7784" y="3977640"/>
            <a:ext cx="0" cy="219456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60120" y="3538728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87552" y="35387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FAISS Updated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7552" y="373989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7799"/>
                </a:solidFill>
              </a:rPr>
              <a:t>KT notes embedded and appended to vector index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4197096"/>
            <a:ext cx="475488" cy="47548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0120" y="4233672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87552" y="423367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Exit Report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7552" y="443484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7799"/>
                </a:solidFill>
              </a:rPr>
              <a:t>Audit-ready summary generated and archived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1298448"/>
            <a:ext cx="4114800" cy="363931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1417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What Makes This Different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190195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40680" y="1938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Zero Orphan Access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40680" y="2176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Every system access revoked in sequence. No forgotten accounts.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37760" y="26517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40680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Knowledge Preserved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068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KT notes embedded in FAISS — searchable by future hires.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3776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40680" y="34381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Full Audit Trail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40680" y="3675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Timestamped evidence per action, Audit ID per run.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37760" y="4151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440680" y="4187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Minutes, Not Weeks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44256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Entire offboarding completed in a single automated run.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RAG-POWERED KNOWLEDGE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B703"/>
                </a:solidFill>
              </a:rPr>
              <a:t>Grounded AI — context from your documents, not generic LLM guesses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261872" cy="1097280"/>
          </a:xfrm>
          <a:prstGeom prst="rect">
            <a:avLst/>
          </a:prstGeom>
          <a:solidFill>
            <a:srgbClr val="B4530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Company Docs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Policies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792224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HR guides, role docs,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process manuals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581912" y="1810512"/>
            <a:ext cx="1737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55648" y="1261872"/>
            <a:ext cx="1261872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55648" y="1261872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Ingestion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(ingest.py)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55648" y="1792224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Chunking, cleaning,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preprocessing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017520" y="1810512"/>
            <a:ext cx="1737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91256" y="1261872"/>
            <a:ext cx="1261872" cy="1097280"/>
          </a:xfrm>
          <a:prstGeom prst="rect">
            <a:avLst/>
          </a:prstGeom>
          <a:solidFill>
            <a:srgbClr val="7B2FB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91256" y="1508760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Hugging Face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Embeddings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91256" y="1792224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15000"/>
              </a:lnSpc>
              <a:buNone/>
            </a:pP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53128" y="1810512"/>
            <a:ext cx="1737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1261872"/>
            <a:ext cx="1261872" cy="1097280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1261872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FAISS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 Store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6864" y="1792224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Local persistent index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in rag_index/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888736" y="1810512"/>
            <a:ext cx="1737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62472" y="1261872"/>
            <a:ext cx="1261872" cy="109728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62472" y="1261872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Retriever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(retriever.py)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62472" y="1792224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Top-k similarity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search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24344" y="1810512"/>
            <a:ext cx="1737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0" y="1261872"/>
            <a:ext cx="1261872" cy="109728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0" y="1261872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LLM Answer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(Gemini)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1792224"/>
            <a:ext cx="1261872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Grounded response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D4EBF5"/>
                </a:solidFill>
              </a:rPr>
              <a:t>with source citation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2578608"/>
            <a:ext cx="8503920" cy="868680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2633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🔄  KNOWLEDGE TRANSFER LOOP (kt_index.py)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2971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When employees offboard, KT Agent captures their knowledge as structured notes → embeds into FAISS → future new hires can query it immediately via RAG chat. Institutional knowledge never leaves the org.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3584448"/>
            <a:ext cx="2697480" cy="1325880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47472" y="3584448"/>
            <a:ext cx="269748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694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Hallucination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0416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All chat answers are grounded in real company documents. Gemini never guesses.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27832" y="3584448"/>
            <a:ext cx="2697480" cy="1325880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27832" y="3584448"/>
            <a:ext cx="2697480" cy="7315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37560" y="3694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Always Current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37560" y="40416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New docs ingested on-demand. KT notes from each offboarding auto-indexed.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08192" y="3584448"/>
            <a:ext cx="2697480" cy="1325880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08192" y="3584448"/>
            <a:ext cx="2697480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17920" y="3694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 Cited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17920" y="40416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Every answer shows which document it came from. Auditable, trustworthy responses.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MCP TOOL ORCHESTRATION — 8 SYSTEM INTEGRATIONS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83280" y="1600200"/>
            <a:ext cx="2377440" cy="2377440"/>
          </a:xfrm>
          <a:prstGeom prst="ellipse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MCP
</a:t>
            </a:r>
            <a:r>
              <a:rPr lang="en-US" sz="1400" b="1" dirty="0">
                <a:solidFill>
                  <a:srgbClr val="FFFFFF"/>
                </a:solidFill>
              </a:rPr>
              <a:t>Server
</a:t>
            </a:r>
            <a:r>
              <a:rPr lang="en-US" sz="900" dirty="0">
                <a:solidFill>
                  <a:srgbClr val="FFFFFF"/>
                </a:solidFill>
              </a:rPr>
              <a:t>Provision + Revoke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536192"/>
            <a:ext cx="1572768" cy="868680"/>
          </a:xfrm>
          <a:prstGeom prst="rect">
            <a:avLst/>
          </a:prstGeom>
          <a:solidFill>
            <a:srgbClr val="7B2FB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956816"/>
            <a:ext cx="15727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User lifecycle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&amp; access roles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" y="2944368"/>
            <a:ext cx="1572768" cy="8686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298094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3364992"/>
            <a:ext cx="15727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Repo access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&amp; team mgmt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64208" y="960120"/>
            <a:ext cx="1572768" cy="868680"/>
          </a:xfrm>
          <a:prstGeom prst="rect">
            <a:avLst/>
          </a:prstGeom>
          <a:solidFill>
            <a:srgbClr val="0052C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64208" y="9966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Jira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64208" y="1380744"/>
            <a:ext cx="15727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Ticket creation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&amp; workflows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64208" y="4005072"/>
            <a:ext cx="1572768" cy="8686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64208" y="404164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Confluence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64208" y="4425696"/>
            <a:ext cx="15727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Space access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&amp; page mgmt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492240" y="960120"/>
            <a:ext cx="1572768" cy="868680"/>
          </a:xfrm>
          <a:prstGeom prst="rect">
            <a:avLst/>
          </a:prstGeom>
          <a:solidFill>
            <a:srgbClr val="62A4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9966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ServiceNow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380744"/>
            <a:ext cx="15727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ITSM tickets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&amp; approvals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92240" y="4005072"/>
            <a:ext cx="1572768" cy="868680"/>
          </a:xfrm>
          <a:prstGeom prst="rect">
            <a:avLst/>
          </a:prstGeom>
          <a:solidFill>
            <a:srgbClr val="0078D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404164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Outlook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425696"/>
            <a:ext cx="15727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Email notifications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&amp; calendar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022592" y="1536192"/>
            <a:ext cx="1572768" cy="868680"/>
          </a:xfrm>
          <a:prstGeom prst="rect">
            <a:avLst/>
          </a:prstGeom>
          <a:solidFill>
            <a:srgbClr val="464EB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22592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22592" y="1956816"/>
            <a:ext cx="15727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Channel creation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&amp; user adding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022592" y="2944368"/>
            <a:ext cx="1572768" cy="86868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22592" y="298094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22592" y="3364992"/>
            <a:ext cx="157276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App deploy</a:t>
            </a:r>
            <a:endParaRPr lang="en-US" sz="7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750" dirty="0">
                <a:solidFill>
                  <a:srgbClr val="CCEEFF"/>
                </a:solidFill>
              </a:rPr>
              <a:t>pipeline access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POLICY-BASED ACCESS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48FE8"/>
                </a:solidFill>
              </a:rPr>
              <a:t>Every access decision driven by code-defined YAML policy — not manual judgment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4023360" cy="3200400"/>
          </a:xfrm>
          <a:prstGeom prst="rect">
            <a:avLst/>
          </a:prstGeom>
          <a:solidFill>
            <a:srgbClr val="0D122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access_policies.yml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roles: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SRE: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systems: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IAM: provision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GitHub: admin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Confluence: write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ServiceNow: read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DevOps Engineer: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systems: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GitHub: write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DevOps Deploy: deploy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Jira: admin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Architect: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systems: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Confluence: admin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GitHub: read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B3E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Jira: write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45152" y="1188720"/>
            <a:ext cx="4160520" cy="713232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73152" cy="713232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24358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12435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Single Source of Truth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0" y="149961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access_policies.yml is THE authority. No conflicting spreadsheets or tribal knowledge.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160520" cy="713232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45152" y="1993392"/>
            <a:ext cx="73152" cy="713232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0482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20482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Roles: SRE, Architect, DevOps, Infra Specialist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800" y="23042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4 roles mapped to 8 systems each. Extend easily by editing YAML.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45152" y="2798064"/>
            <a:ext cx="4160520" cy="713232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45152" y="2798064"/>
            <a:ext cx="73152" cy="713232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8529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2852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Principle of Least Privilege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31089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Each role gets exactly what it needs. Provisioning Agent enforces minimum access.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45152" y="3602736"/>
            <a:ext cx="4160520" cy="713232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45152" y="3602736"/>
            <a:ext cx="73152" cy="713232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6576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3657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Full Revocation on Exit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391363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FC2"/>
                </a:solidFill>
              </a:rPr>
              <a:t>Every system listed in the policy gets revoked — automatically, in sequence.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PROFESSIONAL UI EXPERIENCE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77B6"/>
                </a:solidFill>
              </a:rPr>
              <a:t>Next.js + Tailwind — two modes, one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353312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353312"/>
            <a:ext cx="4160520" cy="4572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  ASSISTANT MODE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Natural language HR/IT questions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RAG-grounded answers from company docs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Policy Q&amp;A — sourced from access_policies.yml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284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Source citations shown with every answer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039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Conversation history persisted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793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Calm, professional chat interface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353312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353312"/>
            <a:ext cx="41605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353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LIFECYCLE MODE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901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One-click onboard / offboard execution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Real-time step-by-step progress 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852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Runs history panel — all past runs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3284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Audit evidence panel per run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8039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RAG source visualization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2793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✓  Colored, accessible, calm layout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LIVE DEMO WALKTHROUGH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D6A0"/>
                </a:solidFill>
              </a:rPr>
              <a:t>4 steps that showcase the complete agentic lifecycle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8449056" cy="822960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73152" cy="82296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57200" cy="4572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075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  Ask the Chat Assistant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2"/>
                </a:solidFill>
              </a:rPr>
              <a:t>"What access does an SRE get?" → System retrieves from FAISS, Gemini answers with policy source cited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167128"/>
            <a:ext cx="8449056" cy="822960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2167128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3500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2402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🟢  Onboard a New Engineer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57860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2"/>
                </a:solidFill>
              </a:rPr>
              <a:t>Enter name + role → Agents trigger: RAG context fetched, access provisioned across all 8 systems, Audit ID generated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099816"/>
            <a:ext cx="8449056" cy="822960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3099816"/>
            <a:ext cx="73152" cy="82296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3282696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1729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Offboard a Departing Employee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51129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2"/>
                </a:solidFill>
              </a:rPr>
              <a:t>Trigger offboard → KT Agent captures knowledge → Provisioning revokes all access → FAISS updated → Exit report generated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4032504"/>
            <a:ext cx="8449056" cy="822960"/>
          </a:xfrm>
          <a:prstGeom prst="rect">
            <a:avLst/>
          </a:prstGeom>
          <a:solidFill>
            <a:srgbClr val="13243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4032504"/>
            <a:ext cx="73152" cy="82296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4215384"/>
            <a:ext cx="457200" cy="45720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1056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Review Audit Trail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44398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2"/>
                </a:solidFill>
              </a:rPr>
              <a:t>Open Runs panel → see full timestamped log → Audit evidence panel shows every action taken, when, and by which agent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ROADMAP &amp; FUTURE 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0972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NOW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029968" cy="312724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2029968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v1.0 — Complete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RAG Chat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Onboard/Offboard 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552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MCP Integrations ✓</a:t>
            </a:r>
          </a:p>
          <a:p>
            <a:r>
              <a:rPr lang="en-US" sz="900" dirty="0">
                <a:solidFill>
                  <a:srgbClr val="8EAFC2"/>
                </a:solidFill>
              </a:rPr>
              <a:t>• Real GitHub API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Audit Logs 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Next.js UI 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33472" y="132588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50592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Q2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42032" y="1737360"/>
            <a:ext cx="2029968" cy="312724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42032" y="1737360"/>
            <a:ext cx="2029968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33472" y="18470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v2.0 — Production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33472" y="2504593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Live Slack/Email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33472" y="30723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Production deploy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33472" y="360555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SSO/Enterprise auth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33472" y="413590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CI/CD for platform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1325880"/>
            <a:ext cx="292608" cy="292608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Q3 2026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737360"/>
            <a:ext cx="2029968" cy="312724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1737360"/>
            <a:ext cx="2029968" cy="7315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18470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v3.0 — Analytics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3042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Dashboard analytics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27797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Predictive insights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2552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SLA monitoring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7307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Manager self-service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4206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Mobile-responsive UI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67728" y="1325880"/>
            <a:ext cx="292608" cy="292608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84848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FBE"/>
                </a:solidFill>
              </a:rPr>
              <a:t>Q4 2026+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76288" y="1737360"/>
            <a:ext cx="2029968" cy="312724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76288" y="1737360"/>
            <a:ext cx="2029968" cy="73152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67728" y="18470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v4.0 — Enterprise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67728" y="23042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Multi-tenant SaaS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67728" y="27797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Marketplace listing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67728" y="32552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API monetization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67728" y="37307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Custom LLM option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67728" y="4206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• Vendor onboarding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E34BD-34C9-19E2-B7C2-45FFFC1E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C674C8-40B3-12A6-9364-C63219871E4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CC7381-405C-F275-8AAB-0C3D81279955}"/>
              </a:ext>
            </a:extLst>
          </p:cNvPr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86A474-1F2E-B678-C3A7-681251538F04}"/>
              </a:ext>
            </a:extLst>
          </p:cNvPr>
          <p:cNvSpPr/>
          <p:nvPr/>
        </p:nvSpPr>
        <p:spPr>
          <a:xfrm>
            <a:off x="7680960" y="91440"/>
            <a:ext cx="1828800" cy="18288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A4E6F5-D03B-CF6E-A971-A98AEDAC0D45}"/>
              </a:ext>
            </a:extLst>
          </p:cNvPr>
          <p:cNvSpPr/>
          <p:nvPr/>
        </p:nvSpPr>
        <p:spPr>
          <a:xfrm>
            <a:off x="120805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GIT REPO LINK: https://</a:t>
            </a:r>
            <a:r>
              <a:rPr lang="en-US" sz="2000" b="1" dirty="0" err="1">
                <a:solidFill>
                  <a:srgbClr val="FFFFFF"/>
                </a:solidFill>
              </a:rPr>
              <a:t>github.ibm.com</a:t>
            </a:r>
            <a:r>
              <a:rPr lang="en-US" sz="2000" b="1" dirty="0">
                <a:solidFill>
                  <a:srgbClr val="FFFFFF"/>
                </a:solidFill>
              </a:rPr>
              <a:t>/</a:t>
            </a:r>
            <a:r>
              <a:rPr lang="en-US" sz="2000" b="1" dirty="0" err="1">
                <a:solidFill>
                  <a:srgbClr val="FFFFFF"/>
                </a:solidFill>
              </a:rPr>
              <a:t>AISolutions</a:t>
            </a:r>
            <a:r>
              <a:rPr lang="en-US" sz="2000" b="1" dirty="0">
                <a:solidFill>
                  <a:srgbClr val="FFFFFF"/>
                </a:solidFill>
              </a:rPr>
              <a:t>/</a:t>
            </a:r>
            <a:r>
              <a:rPr lang="en-US" sz="2000" b="1" dirty="0" err="1">
                <a:solidFill>
                  <a:srgbClr val="FFFFFF"/>
                </a:solidFill>
              </a:rPr>
              <a:t>WorkforceLifecycleAI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405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F68A5-8452-3740-7C36-4D166DDF3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254CCD-F818-D7EC-3122-0F95D9971800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90120C-CEB9-4D6A-1E1B-BA70D67DD21E}"/>
              </a:ext>
            </a:extLst>
          </p:cNvPr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88D2E8E-3519-159C-1E75-0CB003339A58}"/>
              </a:ext>
            </a:extLst>
          </p:cNvPr>
          <p:cNvSpPr/>
          <p:nvPr/>
        </p:nvSpPr>
        <p:spPr>
          <a:xfrm>
            <a:off x="7680960" y="91440"/>
            <a:ext cx="1828800" cy="18288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457856-D092-AC89-533A-044A4DC494A8}"/>
              </a:ext>
            </a:extLst>
          </p:cNvPr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023E8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2D2205-8239-8352-FFA6-C38F3C8F4863}"/>
              </a:ext>
            </a:extLst>
          </p:cNvPr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7246FF-5790-E198-8FA3-5890BF1F7C33}"/>
              </a:ext>
            </a:extLst>
          </p:cNvPr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CIC FS-300.ai CLUB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FDF0C4B-350E-1DE4-A0BA-8C64244CFEF4}"/>
              </a:ext>
            </a:extLst>
          </p:cNvPr>
          <p:cNvSpPr/>
          <p:nvPr/>
        </p:nvSpPr>
        <p:spPr>
          <a:xfrm>
            <a:off x="2352908" y="19202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FFFFFF"/>
                </a:solidFill>
              </a:rPr>
              <a:t>Thankyou</a:t>
            </a:r>
            <a:endParaRPr lang="en-US" sz="6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725F8D5-029C-2C06-C20E-767AF7378932}"/>
              </a:ext>
            </a:extLst>
          </p:cNvPr>
          <p:cNvSpPr/>
          <p:nvPr/>
        </p:nvSpPr>
        <p:spPr>
          <a:xfrm>
            <a:off x="4572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</a:rPr>
              <a:t>AI Skills Initiative  ·  February 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2524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1518</Words>
  <Application>Microsoft Macintosh PowerPoint</Application>
  <PresentationFormat>On-screen Show (16:9)</PresentationFormat>
  <Paragraphs>333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OnboardAI – Agentic HR &amp; IT Automation</dc:title>
  <dc:subject>PptxGenJS Presentation</dc:subject>
  <dc:creator>CIC FS-300.ai Club</dc:creator>
  <cp:lastModifiedBy>Panjiyar, Vickey (CIO Enabling Services - Private Cloud Platform)</cp:lastModifiedBy>
  <cp:revision>9</cp:revision>
  <dcterms:created xsi:type="dcterms:W3CDTF">2026-02-17T12:16:36Z</dcterms:created>
  <dcterms:modified xsi:type="dcterms:W3CDTF">2026-03-09T21:41:15Z</dcterms:modified>
</cp:coreProperties>
</file>